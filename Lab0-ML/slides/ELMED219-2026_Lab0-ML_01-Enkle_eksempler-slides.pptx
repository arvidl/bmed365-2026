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31"/>
  </p:notesMasterIdLst>
  <p:sldIdLst>
    <p:sldId id="256" r:id="rId3"/>
    <p:sldId id="257" r:id="rId4"/>
    <p:sldId id="28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2"/>
      <p:bold r:id="rId33"/>
      <p:italic r:id="rId34"/>
      <p:boldItalic r:id="rId35"/>
    </p:embeddedFont>
    <p:embeddedFont>
      <p:font typeface="Roboto Slab" pitchFamily="2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2"/>
    <p:restoredTop sz="94701"/>
  </p:normalViewPr>
  <p:slideViewPr>
    <p:cSldViewPr snapToGrid="0">
      <p:cViewPr varScale="1">
        <p:scale>
          <a:sx n="143" d="100"/>
          <a:sy n="143" d="100"/>
        </p:scale>
        <p:origin x="1304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79c14fc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79c14fc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54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" name="Google Shape;56;p14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57" name="Google Shape;57;p1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" name="Google Shape;89;p2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21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0" y="4649175"/>
            <a:ext cx="9144000" cy="49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ctrTitle"/>
          </p:nvPr>
        </p:nvSpPr>
        <p:spPr>
          <a:xfrm>
            <a:off x="937716" y="53345"/>
            <a:ext cx="6978600" cy="235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ELMED219 / BMED365 - 2026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                                                      Fredag 9. januar 2026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  Lab 0: Introduksjon til maskinlæring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1308" y="4709275"/>
            <a:ext cx="831543" cy="3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/>
          <p:nvPr/>
        </p:nvSpPr>
        <p:spPr>
          <a:xfrm>
            <a:off x="1680300" y="4037225"/>
            <a:ext cx="5783400" cy="300300"/>
          </a:xfrm>
          <a:prstGeom prst="rect">
            <a:avLst/>
          </a:prstGeom>
          <a:noFill/>
          <a:ln w="9525" cap="flat" cmpd="sng">
            <a:solidFill>
              <a:srgbClr val="0051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Arvid Lundervold,  Alexander S. Lundervold (NHH)</a:t>
            </a:r>
            <a:endParaRPr sz="1200">
              <a:solidFill>
                <a:srgbClr val="FFFFFF"/>
              </a:solidFill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5022" y="4649175"/>
            <a:ext cx="494400" cy="4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73F3E059-9974-1C3D-E676-0691B5A9D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7884"/>
            <a:ext cx="9249277" cy="50856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F167C-76D2-6714-AD3C-24C22C65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6FEBEF-965F-D1E4-8017-D2A20D659C28}"/>
              </a:ext>
            </a:extLst>
          </p:cNvPr>
          <p:cNvSpPr txBox="1"/>
          <p:nvPr/>
        </p:nvSpPr>
        <p:spPr>
          <a:xfrm>
            <a:off x="457200" y="274320"/>
            <a:ext cx="5988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Hva skal vi lære i dag?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5BE21-DDEA-CE9A-DA5C-AC13006EB904}"/>
              </a:ext>
            </a:extLst>
          </p:cNvPr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dirty="0"/>
              <a:t>✅ </a:t>
            </a:r>
            <a:r>
              <a:rPr dirty="0" err="1"/>
              <a:t>Forstå</a:t>
            </a:r>
            <a:r>
              <a:rPr dirty="0"/>
              <a:t> </a:t>
            </a:r>
            <a:r>
              <a:rPr dirty="0" err="1"/>
              <a:t>hva</a:t>
            </a:r>
            <a:r>
              <a:rPr dirty="0"/>
              <a:t> </a:t>
            </a:r>
            <a:r>
              <a:rPr dirty="0" err="1"/>
              <a:t>maskinlæring</a:t>
            </a:r>
            <a:r>
              <a:rPr dirty="0"/>
              <a:t> er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✅ </a:t>
            </a:r>
            <a:r>
              <a:rPr dirty="0" err="1"/>
              <a:t>Utforske</a:t>
            </a:r>
            <a:r>
              <a:rPr dirty="0"/>
              <a:t> </a:t>
            </a:r>
            <a:r>
              <a:rPr dirty="0" err="1"/>
              <a:t>medisinske</a:t>
            </a:r>
            <a:r>
              <a:rPr dirty="0"/>
              <a:t> </a:t>
            </a:r>
            <a:r>
              <a:rPr dirty="0" err="1"/>
              <a:t>datasett</a:t>
            </a:r>
            <a:r>
              <a:rPr dirty="0"/>
              <a:t> (Iris, Diabetes)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✅ Trene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klassifikasjonsmodell</a:t>
            </a:r>
            <a:r>
              <a:rPr dirty="0"/>
              <a:t> (Random Forest)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✅ </a:t>
            </a:r>
            <a:r>
              <a:rPr dirty="0" err="1"/>
              <a:t>Evaluere</a:t>
            </a:r>
            <a:r>
              <a:rPr dirty="0"/>
              <a:t> </a:t>
            </a:r>
            <a:r>
              <a:rPr dirty="0" err="1"/>
              <a:t>modellens</a:t>
            </a:r>
            <a:r>
              <a:rPr dirty="0"/>
              <a:t> </a:t>
            </a:r>
            <a:r>
              <a:rPr dirty="0" err="1"/>
              <a:t>ytelse</a:t>
            </a: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✅ </a:t>
            </a:r>
            <a:r>
              <a:rPr dirty="0" err="1"/>
              <a:t>Forstå</a:t>
            </a:r>
            <a:r>
              <a:rPr dirty="0"/>
              <a:t> Explainable AI (XAI)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✅ </a:t>
            </a:r>
            <a:r>
              <a:rPr dirty="0" err="1"/>
              <a:t>Bygge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interaktiv</a:t>
            </a:r>
            <a:r>
              <a:rPr dirty="0"/>
              <a:t> webapp med </a:t>
            </a:r>
            <a:r>
              <a:rPr dirty="0" err="1"/>
              <a:t>Gradio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51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Hva er maskinlæring?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/>
            </a:pPr>
            <a:r>
              <a:t>"Maskinlæring er en gren av kunstig intelligens der datamaskiner lærer mønstre fra data, uten å bli eksplisitt programmert."</a:t>
            </a:r>
          </a:p>
          <a:p>
            <a:pPr algn="ctr">
              <a:defRPr sz="2000"/>
            </a:pPr>
            <a:r>
              <a:t>— Arthur Samuel, 1959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56392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rPr dirty="0"/>
              <a:t>ML vs. </a:t>
            </a:r>
            <a:r>
              <a:rPr dirty="0" err="1"/>
              <a:t>Tradisjonell</a:t>
            </a:r>
            <a:r>
              <a:rPr dirty="0"/>
              <a:t> </a:t>
            </a:r>
            <a:r>
              <a:rPr dirty="0" err="1"/>
              <a:t>programmering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Tradisjonell:</a:t>
            </a:r>
          </a:p>
          <a:p>
            <a:pPr>
              <a:spcBef>
                <a:spcPts val="800"/>
              </a:spcBef>
              <a:defRPr sz="2000"/>
            </a:pPr>
            <a:r>
              <a:t>• if blodsukker &gt; 126:</a:t>
            </a:r>
          </a:p>
          <a:p>
            <a:pPr>
              <a:spcBef>
                <a:spcPts val="800"/>
              </a:spcBef>
              <a:defRPr sz="2000"/>
            </a:pPr>
            <a:r>
              <a:t>•     return 'diabetes'</a:t>
            </a:r>
          </a:p>
          <a:p>
            <a:pPr>
              <a:spcBef>
                <a:spcPts val="800"/>
              </a:spcBef>
              <a:defRPr sz="2000"/>
            </a:pPr>
            <a:r>
              <a:t>• </a:t>
            </a:r>
          </a:p>
          <a:p>
            <a:pPr>
              <a:spcBef>
                <a:spcPts val="800"/>
              </a:spcBef>
              <a:defRPr sz="2000"/>
            </a:pPr>
            <a:r>
              <a:t>• Programmerer skriver regler</a:t>
            </a:r>
          </a:p>
          <a:p>
            <a:pPr>
              <a:spcBef>
                <a:spcPts val="800"/>
              </a:spcBef>
              <a:defRPr sz="2000"/>
            </a:pPr>
            <a:r>
              <a:t>• Eksplisitte terskelverdier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Maskinlæring:</a:t>
            </a:r>
          </a:p>
          <a:p>
            <a:pPr>
              <a:spcBef>
                <a:spcPts val="800"/>
              </a:spcBef>
              <a:defRPr sz="2000"/>
            </a:pPr>
            <a:r>
              <a:t>• model.fit(X, y)</a:t>
            </a:r>
          </a:p>
          <a:p>
            <a:pPr>
              <a:spcBef>
                <a:spcPts val="800"/>
              </a:spcBef>
              <a:defRPr sz="2000"/>
            </a:pPr>
            <a:r>
              <a:t>• prediction = model.predict(new_data)</a:t>
            </a:r>
          </a:p>
          <a:p>
            <a:pPr>
              <a:spcBef>
                <a:spcPts val="800"/>
              </a:spcBef>
              <a:defRPr sz="2000"/>
            </a:pPr>
            <a:r>
              <a:t>• </a:t>
            </a:r>
          </a:p>
          <a:p>
            <a:pPr>
              <a:spcBef>
                <a:spcPts val="800"/>
              </a:spcBef>
              <a:defRPr sz="2000"/>
            </a:pPr>
            <a:r>
              <a:t>• Modellen lærer regler fra data</a:t>
            </a:r>
          </a:p>
          <a:p>
            <a:pPr>
              <a:spcBef>
                <a:spcPts val="800"/>
              </a:spcBef>
              <a:defRPr sz="2000"/>
            </a:pPr>
            <a:r>
              <a:t>• Finner terskler automatisk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Hvorfor maskinlæring i medisin?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dirty="0"/>
              <a:t>🏥 </a:t>
            </a:r>
            <a:r>
              <a:rPr dirty="0" err="1"/>
              <a:t>Diagnostikk</a:t>
            </a:r>
            <a:r>
              <a:rPr dirty="0"/>
              <a:t> — </a:t>
            </a:r>
            <a:r>
              <a:rPr dirty="0" err="1"/>
              <a:t>Bildediagnostikk</a:t>
            </a:r>
            <a:r>
              <a:rPr dirty="0"/>
              <a:t>, </a:t>
            </a:r>
            <a:r>
              <a:rPr dirty="0" err="1"/>
              <a:t>patologi</a:t>
            </a:r>
            <a:r>
              <a:rPr dirty="0"/>
              <a:t>, ECG-</a:t>
            </a:r>
            <a:r>
              <a:rPr dirty="0" err="1"/>
              <a:t>analyse</a:t>
            </a: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💊 </a:t>
            </a:r>
            <a:r>
              <a:rPr dirty="0" err="1"/>
              <a:t>Behandlingsvalg</a:t>
            </a:r>
            <a:r>
              <a:rPr dirty="0"/>
              <a:t> — </a:t>
            </a:r>
            <a:r>
              <a:rPr dirty="0" err="1"/>
              <a:t>Prediksjon</a:t>
            </a:r>
            <a:r>
              <a:rPr dirty="0"/>
              <a:t> av </a:t>
            </a:r>
            <a:r>
              <a:rPr dirty="0" err="1"/>
              <a:t>behandlingsrespons</a:t>
            </a: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⚠️ </a:t>
            </a:r>
            <a:r>
              <a:rPr dirty="0" err="1"/>
              <a:t>Risikovurdering</a:t>
            </a:r>
            <a:r>
              <a:rPr dirty="0"/>
              <a:t> — Diabetes, </a:t>
            </a:r>
            <a:r>
              <a:rPr dirty="0" err="1"/>
              <a:t>hjertesykdom</a:t>
            </a:r>
            <a:r>
              <a:rPr dirty="0"/>
              <a:t>, sepsis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🔬 </a:t>
            </a:r>
            <a:r>
              <a:rPr dirty="0" err="1"/>
              <a:t>Legemiddelutvikling</a:t>
            </a:r>
            <a:r>
              <a:rPr dirty="0"/>
              <a:t> — </a:t>
            </a:r>
            <a:r>
              <a:rPr dirty="0" err="1"/>
              <a:t>Molekyldesign</a:t>
            </a:r>
            <a:r>
              <a:rPr dirty="0"/>
              <a:t>, </a:t>
            </a:r>
            <a:r>
              <a:rPr dirty="0" err="1"/>
              <a:t>bivirkningsprediksjon</a:t>
            </a: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📊 </a:t>
            </a:r>
            <a:r>
              <a:rPr dirty="0" err="1"/>
              <a:t>Pasientmonitorering</a:t>
            </a:r>
            <a:r>
              <a:rPr dirty="0"/>
              <a:t> — </a:t>
            </a:r>
            <a:r>
              <a:rPr dirty="0" err="1"/>
              <a:t>Tidlig</a:t>
            </a:r>
            <a:r>
              <a:rPr dirty="0"/>
              <a:t> </a:t>
            </a:r>
            <a:r>
              <a:rPr dirty="0" err="1"/>
              <a:t>varsling</a:t>
            </a:r>
            <a:r>
              <a:rPr dirty="0"/>
              <a:t>, ICU-</a:t>
            </a:r>
            <a:r>
              <a:rPr dirty="0" err="1"/>
              <a:t>prediksjon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Arbeidsflyt: Fra data til prediksjon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1️⃣ DATA — Samle inn og organisere data</a:t>
            </a:r>
          </a:p>
          <a:p>
            <a:pPr>
              <a:spcBef>
                <a:spcPts val="1200"/>
              </a:spcBef>
              <a:defRPr sz="2400"/>
            </a:pPr>
            <a:r>
              <a:t>2️⃣ PREPROSESSERING — Rensing, normalisering, splitting</a:t>
            </a:r>
          </a:p>
          <a:p>
            <a:pPr>
              <a:spcBef>
                <a:spcPts val="1200"/>
              </a:spcBef>
              <a:defRPr sz="2400"/>
            </a:pPr>
            <a:r>
              <a:t>3️⃣ TRENING — Velg algoritme, tren modell</a:t>
            </a:r>
          </a:p>
          <a:p>
            <a:pPr>
              <a:spcBef>
                <a:spcPts val="1200"/>
              </a:spcBef>
              <a:defRPr sz="2400"/>
            </a:pPr>
            <a:r>
              <a:t>4️⃣ EVALUERING — Test på usett data, mål ytelse</a:t>
            </a:r>
          </a:p>
          <a:p>
            <a:pPr>
              <a:spcBef>
                <a:spcPts val="1200"/>
              </a:spcBef>
              <a:defRPr sz="2400"/>
            </a:pPr>
            <a:r>
              <a:t>5️⃣ DEPLOYMENT — Sett modellen i produksjon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I denne labben fokuserer vi på steg 2-4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Vårt første datasett: Iris-blomster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dirty="0"/>
              <a:t>🌸 150 </a:t>
            </a:r>
            <a:r>
              <a:rPr dirty="0" err="1"/>
              <a:t>blomster</a:t>
            </a:r>
            <a:r>
              <a:rPr dirty="0"/>
              <a:t>, 3 </a:t>
            </a:r>
            <a:r>
              <a:rPr dirty="0" err="1"/>
              <a:t>arter</a:t>
            </a:r>
            <a:r>
              <a:rPr dirty="0"/>
              <a:t> (</a:t>
            </a:r>
            <a:r>
              <a:rPr dirty="0" err="1"/>
              <a:t>Setosa</a:t>
            </a:r>
            <a:r>
              <a:rPr dirty="0"/>
              <a:t>, Versicolor, Virginica)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📏 4 </a:t>
            </a:r>
            <a:r>
              <a:rPr dirty="0" err="1"/>
              <a:t>egenskaper</a:t>
            </a:r>
            <a:r>
              <a:rPr dirty="0"/>
              <a:t>: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• Sepal length (</a:t>
            </a:r>
            <a:r>
              <a:rPr dirty="0" err="1"/>
              <a:t>begerbladlengde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• Sepal width (</a:t>
            </a:r>
            <a:r>
              <a:rPr dirty="0" err="1"/>
              <a:t>begerbladbredde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• Petal length (</a:t>
            </a:r>
            <a:r>
              <a:rPr dirty="0" err="1"/>
              <a:t>kronbladlengde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• Petal width (</a:t>
            </a:r>
            <a:r>
              <a:rPr dirty="0" err="1"/>
              <a:t>kronbladbredde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🎯 </a:t>
            </a:r>
            <a:r>
              <a:rPr dirty="0" err="1"/>
              <a:t>Klassisk</a:t>
            </a:r>
            <a:r>
              <a:rPr dirty="0"/>
              <a:t> benchmark-</a:t>
            </a:r>
            <a:r>
              <a:rPr dirty="0" err="1"/>
              <a:t>datasett</a:t>
            </a:r>
            <a:r>
              <a:rPr dirty="0"/>
              <a:t> (Fisher, 1936)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Enkelt datasett for å forstå ML-konsepter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Visualisering: Kan vi skille artene?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📊 Scatter plot viser at: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     • Setosa er tydelig separert fra de andre</a:t>
            </a:r>
          </a:p>
          <a:p>
            <a:pPr>
              <a:spcBef>
                <a:spcPts val="1200"/>
              </a:spcBef>
              <a:defRPr sz="2400"/>
            </a:pPr>
            <a:r>
              <a:t>     • Versicolor og Virginica overlapper noe</a:t>
            </a:r>
          </a:p>
          <a:p>
            <a:pPr>
              <a:spcBef>
                <a:spcPts val="1200"/>
              </a:spcBef>
              <a:defRPr sz="2400"/>
            </a:pPr>
            <a:r>
              <a:t>     • Petal-målinger skiller bedre enn sepal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💡 God separasjon → Enklere klassifiseringsoppgave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[Sett inn scatter plot fra notebook her]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Random Forest: Mange trær gir bedre svar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/>
            </a:pPr>
            <a:r>
              <a:t>"Som å spørre 100 eksperter og følge flertallet"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Hvordan fungerer Random Forest?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🌳 Ensemble av mange beslutningstrær (f.eks. 100)</a:t>
            </a:r>
          </a:p>
          <a:p>
            <a:pPr>
              <a:spcBef>
                <a:spcPts val="1200"/>
              </a:spcBef>
              <a:defRPr sz="2400"/>
            </a:pPr>
            <a:r>
              <a:t>🎲 Hvert tre trenes på tilfeldig utvalg av data</a:t>
            </a:r>
          </a:p>
          <a:p>
            <a:pPr>
              <a:spcBef>
                <a:spcPts val="1200"/>
              </a:spcBef>
              <a:defRPr sz="2400"/>
            </a:pPr>
            <a:r>
              <a:t>🔀 Hvert tre bruker tilfeldig utvalg av egenskaper</a:t>
            </a:r>
          </a:p>
          <a:p>
            <a:pPr>
              <a:spcBef>
                <a:spcPts val="1200"/>
              </a:spcBef>
              <a:defRPr sz="2400"/>
            </a:pPr>
            <a:r>
              <a:t>🗳️ Prediksjon: Flertallsavstemning mellom trærne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Fordeler: Robust, unngår overfitting, håndterer støy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Hvorfor dele data i trening og test?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Treningsdata (75%):</a:t>
            </a:r>
          </a:p>
          <a:p>
            <a:pPr>
              <a:spcBef>
                <a:spcPts val="800"/>
              </a:spcBef>
              <a:defRPr sz="2000"/>
            </a:pPr>
            <a:r>
              <a:t>• Modellen lærer fra disse</a:t>
            </a:r>
          </a:p>
          <a:p>
            <a:pPr>
              <a:spcBef>
                <a:spcPts val="800"/>
              </a:spcBef>
              <a:defRPr sz="2000"/>
            </a:pPr>
            <a:r>
              <a:t>• Finner mønstre og regler</a:t>
            </a:r>
          </a:p>
          <a:p>
            <a:pPr>
              <a:spcBef>
                <a:spcPts val="800"/>
              </a:spcBef>
              <a:defRPr sz="2000"/>
            </a:pPr>
            <a:r>
              <a:t>• Kan 'pugge' dataene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Testdata (25%):</a:t>
            </a:r>
          </a:p>
          <a:p>
            <a:pPr>
              <a:spcBef>
                <a:spcPts val="800"/>
              </a:spcBef>
              <a:defRPr sz="2000"/>
            </a:pPr>
            <a:r>
              <a:t>• Holdes helt skjult under trening</a:t>
            </a:r>
          </a:p>
          <a:p>
            <a:pPr>
              <a:spcBef>
                <a:spcPts val="800"/>
              </a:spcBef>
              <a:defRPr sz="2000"/>
            </a:pPr>
            <a:r>
              <a:t>• Evaluerer på USETT data</a:t>
            </a:r>
          </a:p>
          <a:p>
            <a:pPr>
              <a:spcBef>
                <a:spcPts val="800"/>
              </a:spcBef>
              <a:defRPr sz="2000"/>
            </a:pPr>
            <a:r>
              <a:t>• Estimerer ytelse i virkeligheten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5603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rPr dirty="0"/>
              <a:t>⚠️ </a:t>
            </a:r>
            <a:r>
              <a:rPr sz="2800" dirty="0"/>
              <a:t>Overfitting: </a:t>
            </a:r>
            <a:r>
              <a:rPr sz="2800" dirty="0" err="1"/>
              <a:t>Modellen</a:t>
            </a:r>
            <a:r>
              <a:rPr sz="2800" dirty="0"/>
              <a:t> husker, men </a:t>
            </a:r>
            <a:r>
              <a:rPr sz="2800" dirty="0" err="1"/>
              <a:t>forstår</a:t>
            </a:r>
            <a:r>
              <a:rPr sz="2800" dirty="0"/>
              <a:t> </a:t>
            </a:r>
            <a:r>
              <a:rPr sz="2800" dirty="0" err="1"/>
              <a:t>ikke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dirty="0"/>
              <a:t>Problem: </a:t>
            </a:r>
            <a:r>
              <a:rPr dirty="0" err="1"/>
              <a:t>Modellen</a:t>
            </a:r>
            <a:r>
              <a:rPr dirty="0"/>
              <a:t> </a:t>
            </a:r>
            <a:r>
              <a:rPr dirty="0" err="1"/>
              <a:t>lærer</a:t>
            </a:r>
            <a:r>
              <a:rPr dirty="0"/>
              <a:t> </a:t>
            </a:r>
            <a:r>
              <a:rPr dirty="0" err="1"/>
              <a:t>treningsdata</a:t>
            </a:r>
            <a:r>
              <a:rPr dirty="0"/>
              <a:t> '</a:t>
            </a:r>
            <a:r>
              <a:rPr dirty="0" err="1"/>
              <a:t>utenat</a:t>
            </a:r>
            <a:r>
              <a:rPr dirty="0"/>
              <a:t>'</a:t>
            </a:r>
            <a:endParaRPr sz="2000"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Symptom: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• </a:t>
            </a:r>
            <a:r>
              <a:rPr dirty="0" err="1"/>
              <a:t>Treningsdata</a:t>
            </a:r>
            <a:r>
              <a:rPr dirty="0"/>
              <a:t>: 99% accuracy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• </a:t>
            </a:r>
            <a:r>
              <a:rPr dirty="0" err="1"/>
              <a:t>Testdata</a:t>
            </a:r>
            <a:r>
              <a:rPr dirty="0"/>
              <a:t>: 65% accuracy</a:t>
            </a:r>
            <a:endParaRPr sz="1800" dirty="0"/>
          </a:p>
          <a:p>
            <a:pPr>
              <a:spcBef>
                <a:spcPts val="1200"/>
              </a:spcBef>
              <a:defRPr sz="2400"/>
            </a:pPr>
            <a:r>
              <a:rPr dirty="0" err="1"/>
              <a:t>Medisinsk</a:t>
            </a:r>
            <a:r>
              <a:rPr dirty="0"/>
              <a:t> </a:t>
            </a:r>
            <a:r>
              <a:rPr dirty="0" err="1"/>
              <a:t>konsekvens</a:t>
            </a:r>
            <a:r>
              <a:rPr dirty="0"/>
              <a:t>:</a:t>
            </a:r>
          </a:p>
          <a:p>
            <a:pPr>
              <a:spcBef>
                <a:spcPts val="1200"/>
              </a:spcBef>
              <a:defRPr sz="2400"/>
            </a:pPr>
            <a:r>
              <a:rPr dirty="0" err="1"/>
              <a:t>Modellen</a:t>
            </a:r>
            <a:r>
              <a:rPr dirty="0"/>
              <a:t> </a:t>
            </a:r>
            <a:r>
              <a:rPr dirty="0" err="1"/>
              <a:t>fungerer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'</a:t>
            </a:r>
            <a:r>
              <a:rPr dirty="0" err="1"/>
              <a:t>gamle</a:t>
            </a:r>
            <a:r>
              <a:rPr dirty="0"/>
              <a:t>' </a:t>
            </a:r>
            <a:r>
              <a:rPr dirty="0" err="1"/>
              <a:t>pasienter</a:t>
            </a:r>
            <a:r>
              <a:rPr dirty="0"/>
              <a:t>, men </a:t>
            </a:r>
            <a:r>
              <a:rPr dirty="0" err="1"/>
              <a:t>feiler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nye!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850" y="472815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rPr dirty="0"/>
              <a:t>Løsning: </a:t>
            </a:r>
            <a:r>
              <a:rPr dirty="0" err="1"/>
              <a:t>Regularisering</a:t>
            </a:r>
            <a:r>
              <a:rPr dirty="0"/>
              <a:t>, </a:t>
            </a:r>
            <a:r>
              <a:rPr dirty="0" err="1"/>
              <a:t>kryss-validering</a:t>
            </a:r>
            <a:r>
              <a:rPr dirty="0"/>
              <a:t>, </a:t>
            </a:r>
            <a:r>
              <a:rPr dirty="0" err="1"/>
              <a:t>mer</a:t>
            </a:r>
            <a:r>
              <a:rPr dirty="0"/>
              <a:t>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Random Forest på Iris: 100% accuracy!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027355"/>
            <a:ext cx="82296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dirty="0" err="1"/>
              <a:t>Konfusjonsmatrise</a:t>
            </a:r>
            <a:r>
              <a:rPr dirty="0"/>
              <a:t> (</a:t>
            </a:r>
            <a:r>
              <a:rPr dirty="0" err="1"/>
              <a:t>testdata</a:t>
            </a:r>
            <a:r>
              <a:rPr dirty="0"/>
              <a:t>, 38 </a:t>
            </a:r>
            <a:r>
              <a:rPr dirty="0" err="1"/>
              <a:t>blomster</a:t>
            </a:r>
            <a:r>
              <a:rPr dirty="0"/>
              <a:t>):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               </a:t>
            </a:r>
            <a:r>
              <a:rPr dirty="0" err="1"/>
              <a:t>Predikert</a:t>
            </a: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                 Set   Ver   Vir</a:t>
            </a:r>
          </a:p>
          <a:p>
            <a:pPr>
              <a:spcBef>
                <a:spcPts val="1200"/>
              </a:spcBef>
              <a:defRPr sz="2400"/>
            </a:pPr>
            <a:r>
              <a:rPr dirty="0" err="1"/>
              <a:t>Faktisk</a:t>
            </a:r>
            <a:r>
              <a:rPr dirty="0"/>
              <a:t>  </a:t>
            </a:r>
            <a:r>
              <a:rPr dirty="0" err="1"/>
              <a:t>Setosa</a:t>
            </a:r>
            <a:r>
              <a:rPr dirty="0"/>
              <a:t>   12    0     0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  Versicolor  0    13    0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  Virginica   0    0    13</a:t>
            </a:r>
          </a:p>
          <a:p>
            <a:pPr>
              <a:spcBef>
                <a:spcPts val="1200"/>
              </a:spcBef>
              <a:defRPr sz="2400"/>
            </a:pP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 err="1"/>
              <a:t>Perfekt</a:t>
            </a:r>
            <a:r>
              <a:rPr dirty="0"/>
              <a:t> </a:t>
            </a:r>
            <a:r>
              <a:rPr dirty="0" err="1"/>
              <a:t>klassifisering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testdata</a:t>
            </a:r>
            <a:r>
              <a:rPr dirty="0"/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NB: Dette er et 'lett' datasett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Et mer realistisk eksempel: Diabetes-prediksjon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👩 768 kvinner fra Pima-indianerstammen (Arizona, USA)</a:t>
            </a:r>
          </a:p>
          <a:p>
            <a:pPr>
              <a:spcBef>
                <a:spcPts val="1200"/>
              </a:spcBef>
              <a:defRPr sz="2400"/>
            </a:pPr>
            <a:r>
              <a:t>📅 Data fra 1988 (Pima Indians Diabetes Database)</a:t>
            </a:r>
          </a:p>
          <a:p>
            <a:pPr>
              <a:spcBef>
                <a:spcPts val="1200"/>
              </a:spcBef>
              <a:defRPr sz="2400"/>
            </a:pPr>
            <a:r>
              <a:t>🎯 Mål: Predikere diabetes basert på 8 egenskaper: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     Graviditeter, Glukose, Blodtrykk, Hudfold,</a:t>
            </a:r>
          </a:p>
          <a:p>
            <a:pPr>
              <a:spcBef>
                <a:spcPts val="1200"/>
              </a:spcBef>
              <a:defRPr sz="2400"/>
            </a:pPr>
            <a:r>
              <a:t>     Insulin, BMI, Diabetes Pedigree Function, Alder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Diabetes er vanskeligere enn Iris!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⚖️ Ubalanserte klasser — 65% friske, 35% diabetikere</a:t>
            </a:r>
          </a:p>
          <a:p>
            <a:pPr>
              <a:spcBef>
                <a:spcPts val="1200"/>
              </a:spcBef>
              <a:defRPr sz="2400"/>
            </a:pPr>
            <a:r>
              <a:t>❓ Manglende verdier — 0 = missing for glucose, BMI, etc.</a:t>
            </a:r>
          </a:p>
          <a:p>
            <a:pPr>
              <a:spcBef>
                <a:spcPts val="1200"/>
              </a:spcBef>
              <a:defRPr sz="2400"/>
            </a:pPr>
            <a:r>
              <a:t>🔀 Overlappende klasser — Ingen tydelig separasjon</a:t>
            </a:r>
          </a:p>
          <a:p>
            <a:pPr>
              <a:spcBef>
                <a:spcPts val="1200"/>
              </a:spcBef>
              <a:defRPr sz="2400"/>
            </a:pPr>
            <a:r>
              <a:t>📉 Støy i målingene — Biologisk variasjon</a:t>
            </a:r>
          </a:p>
          <a:p>
            <a:pPr>
              <a:spcBef>
                <a:spcPts val="1200"/>
              </a:spcBef>
              <a:defRPr sz="2400"/>
            </a:pPr>
            <a:r>
              <a:t>📅 Gammelt datasett — 1988 →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Representativt for reelle medisinske data!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Evaluering: Mer enn bare 'prosent riktig'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Metrikk          Definisjon                        Verdi</a:t>
            </a:r>
          </a:p>
          <a:p>
            <a:pPr>
              <a:spcBef>
                <a:spcPts val="1200"/>
              </a:spcBef>
              <a:defRPr sz="2400"/>
            </a:pPr>
            <a:r>
              <a:t>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1200"/>
              </a:spcBef>
              <a:defRPr sz="2400"/>
            </a:pPr>
            <a:r>
              <a:t>Accuracy      Andel korrekte                       74%</a:t>
            </a:r>
          </a:p>
          <a:p>
            <a:pPr>
              <a:spcBef>
                <a:spcPts val="1200"/>
              </a:spcBef>
              <a:defRPr sz="2400"/>
            </a:pPr>
            <a:r>
              <a:t>Precision     Av 'diabetes'-pred, % faktisk syke   65%</a:t>
            </a:r>
          </a:p>
          <a:p>
            <a:pPr>
              <a:spcBef>
                <a:spcPts val="1200"/>
              </a:spcBef>
              <a:defRPr sz="2400"/>
            </a:pPr>
            <a:r>
              <a:t>Recall        Av faktisk syke, % vi finner         58%</a:t>
            </a:r>
          </a:p>
          <a:p>
            <a:pPr>
              <a:spcBef>
                <a:spcPts val="1200"/>
              </a:spcBef>
              <a:defRPr sz="2400"/>
            </a:pPr>
            <a:r>
              <a:t>F1-score      Balanse mellom prec. og recall       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Hvilken metrikk er viktigst? Det avhenger av konteksten!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Konfusjonsmatrise: Hvor feiler modellen?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25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rPr dirty="0" err="1"/>
              <a:t>Matrisen</a:t>
            </a:r>
            <a:r>
              <a:rPr dirty="0"/>
              <a:t>:</a:t>
            </a:r>
          </a:p>
          <a:p>
            <a:pPr>
              <a:spcBef>
                <a:spcPts val="800"/>
              </a:spcBef>
              <a:defRPr sz="2000"/>
            </a:pPr>
            <a:r>
              <a:rPr dirty="0"/>
              <a:t>•              Pred: Frisk  </a:t>
            </a:r>
            <a:r>
              <a:rPr dirty="0" err="1"/>
              <a:t>Syk</a:t>
            </a:r>
            <a:endParaRPr dirty="0"/>
          </a:p>
          <a:p>
            <a:pPr>
              <a:spcBef>
                <a:spcPts val="800"/>
              </a:spcBef>
              <a:defRPr sz="2000"/>
            </a:pPr>
            <a:r>
              <a:rPr dirty="0"/>
              <a:t>• </a:t>
            </a:r>
            <a:r>
              <a:rPr dirty="0" err="1"/>
              <a:t>Faktisk</a:t>
            </a:r>
            <a:r>
              <a:rPr dirty="0"/>
              <a:t> Frisk    TN=98   FP=22</a:t>
            </a:r>
          </a:p>
          <a:p>
            <a:pPr>
              <a:spcBef>
                <a:spcPts val="800"/>
              </a:spcBef>
              <a:defRPr sz="2000"/>
            </a:pPr>
            <a:r>
              <a:rPr dirty="0"/>
              <a:t>•         </a:t>
            </a:r>
            <a:r>
              <a:rPr dirty="0" err="1"/>
              <a:t>Syk</a:t>
            </a:r>
            <a:r>
              <a:rPr dirty="0"/>
              <a:t>      FN=29   TP=43</a:t>
            </a:r>
          </a:p>
          <a:p>
            <a:pPr>
              <a:spcBef>
                <a:spcPts val="800"/>
              </a:spcBef>
              <a:defRPr sz="2000"/>
            </a:pPr>
            <a:r>
              <a:rPr dirty="0"/>
              <a:t>• </a:t>
            </a:r>
          </a:p>
          <a:p>
            <a:pPr>
              <a:spcBef>
                <a:spcPts val="800"/>
              </a:spcBef>
              <a:defRPr sz="2000"/>
            </a:pPr>
            <a:r>
              <a:rPr dirty="0"/>
              <a:t>• FP = </a:t>
            </a:r>
            <a:r>
              <a:rPr dirty="0" err="1"/>
              <a:t>Falske</a:t>
            </a:r>
            <a:r>
              <a:rPr dirty="0"/>
              <a:t> positive</a:t>
            </a:r>
          </a:p>
          <a:p>
            <a:pPr>
              <a:spcBef>
                <a:spcPts val="800"/>
              </a:spcBef>
              <a:defRPr sz="2000"/>
            </a:pPr>
            <a:r>
              <a:rPr dirty="0"/>
              <a:t>• FN = </a:t>
            </a:r>
            <a:r>
              <a:rPr dirty="0" err="1"/>
              <a:t>Falske</a:t>
            </a:r>
            <a:r>
              <a:rPr dirty="0"/>
              <a:t> negative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Medisinsk perspektiv:</a:t>
            </a:r>
          </a:p>
          <a:p>
            <a:pPr>
              <a:spcBef>
                <a:spcPts val="800"/>
              </a:spcBef>
              <a:defRPr sz="2000"/>
            </a:pPr>
            <a:r>
              <a:t>• FP (22): Unødvendig bekymring</a:t>
            </a:r>
          </a:p>
          <a:p>
            <a:pPr>
              <a:spcBef>
                <a:spcPts val="800"/>
              </a:spcBef>
              <a:defRPr sz="2000"/>
            </a:pPr>
            <a:r>
              <a:t>•          og testing</a:t>
            </a:r>
          </a:p>
          <a:p>
            <a:pPr>
              <a:spcBef>
                <a:spcPts val="800"/>
              </a:spcBef>
              <a:defRPr sz="2000"/>
            </a:pPr>
            <a:r>
              <a:t>• </a:t>
            </a:r>
          </a:p>
          <a:p>
            <a:pPr>
              <a:spcBef>
                <a:spcPts val="800"/>
              </a:spcBef>
              <a:defRPr sz="2000"/>
            </a:pPr>
            <a:r>
              <a:t>• FN (29): FARLIG! Oversett</a:t>
            </a:r>
          </a:p>
          <a:p>
            <a:pPr>
              <a:spcBef>
                <a:spcPts val="800"/>
              </a:spcBef>
              <a:defRPr sz="2000"/>
            </a:pPr>
            <a:r>
              <a:t>•          sykdom, forsinket</a:t>
            </a:r>
          </a:p>
          <a:p>
            <a:pPr>
              <a:spcBef>
                <a:spcPts val="800"/>
              </a:spcBef>
              <a:defRPr sz="2000"/>
            </a:pPr>
            <a:r>
              <a:t>•          behandling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Trade-off: Precision vs.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Screening (høy recall):</a:t>
            </a:r>
          </a:p>
          <a:p>
            <a:pPr>
              <a:spcBef>
                <a:spcPts val="800"/>
              </a:spcBef>
              <a:defRPr sz="2000"/>
            </a:pPr>
            <a:r>
              <a:t>• Mål: Fange ALLE syke</a:t>
            </a:r>
          </a:p>
          <a:p>
            <a:pPr>
              <a:spcBef>
                <a:spcPts val="800"/>
              </a:spcBef>
              <a:defRPr sz="2000"/>
            </a:pPr>
            <a:r>
              <a:t>• Aksepterer falske positive</a:t>
            </a:r>
          </a:p>
          <a:p>
            <a:pPr>
              <a:spcBef>
                <a:spcPts val="800"/>
              </a:spcBef>
              <a:defRPr sz="2000"/>
            </a:pPr>
            <a:r>
              <a:t>• Eksempel: Årlig helsesjekk</a:t>
            </a:r>
          </a:p>
          <a:p>
            <a:pPr>
              <a:spcBef>
                <a:spcPts val="800"/>
              </a:spcBef>
              <a:defRPr sz="2000"/>
            </a:pPr>
            <a:r>
              <a:t>• Terskel: Lav (f.eks. 30%)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Bekreftende test (høy prec.):</a:t>
            </a:r>
          </a:p>
          <a:p>
            <a:pPr>
              <a:spcBef>
                <a:spcPts val="800"/>
              </a:spcBef>
              <a:defRPr sz="2000"/>
            </a:pPr>
            <a:r>
              <a:t>• Mål: Være SIKKER</a:t>
            </a:r>
          </a:p>
          <a:p>
            <a:pPr>
              <a:spcBef>
                <a:spcPts val="800"/>
              </a:spcBef>
              <a:defRPr sz="2000"/>
            </a:pPr>
            <a:r>
              <a:t>• Risikerer å overse noen</a:t>
            </a:r>
          </a:p>
          <a:p>
            <a:pPr>
              <a:spcBef>
                <a:spcPts val="800"/>
              </a:spcBef>
              <a:defRPr sz="2000"/>
            </a:pPr>
            <a:r>
              <a:t>• Eksempel: Før medisinering</a:t>
            </a:r>
          </a:p>
          <a:p>
            <a:pPr>
              <a:spcBef>
                <a:spcPts val="800"/>
              </a:spcBef>
              <a:defRPr sz="2000"/>
            </a:pPr>
            <a:r>
              <a:t>• Terskel: Høy (f.eks. 70%)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/>
            </a:pPr>
            <a:r>
              <a:t>"En lege kan ikke stole på en 'black box' som sier 'du har diabetes' uten forklaring."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XAI-metoder: Åpne den svarte boksen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🏆 Feature Importance — Hvilke egenskaper er viktigst?</a:t>
            </a:r>
          </a:p>
          <a:p>
            <a:pPr>
              <a:spcBef>
                <a:spcPts val="1200"/>
              </a:spcBef>
              <a:defRPr sz="2400"/>
            </a:pPr>
            <a:r>
              <a:t>📈 Partial Dependence Plots — Hvordan påvirker én egenskap?</a:t>
            </a:r>
          </a:p>
          <a:p>
            <a:pPr>
              <a:spcBef>
                <a:spcPts val="1200"/>
              </a:spcBef>
              <a:defRPr sz="2400"/>
            </a:pPr>
            <a:r>
              <a:t>🔍 Permutation Importance — Hvor mye taper vi uten en egenskap?</a:t>
            </a:r>
          </a:p>
          <a:p>
            <a:pPr>
              <a:spcBef>
                <a:spcPts val="1200"/>
              </a:spcBef>
              <a:defRPr sz="2400"/>
            </a:pPr>
            <a:r>
              <a:t>🧩 SHAP — Hvorfor fikk DENNE pasienten dette svaret?</a:t>
            </a:r>
          </a:p>
          <a:p>
            <a:pPr>
              <a:spcBef>
                <a:spcPts val="1200"/>
              </a:spcBef>
              <a:defRPr sz="2400"/>
            </a:pPr>
            <a:r>
              <a:t>🎯 LIME — Lokal forklaring for enkeltprediksjoner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Feature Importance: Hvilke egenskaper er viktigst?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glucose        ████████████████████  (0.25)</a:t>
            </a:r>
          </a:p>
          <a:p>
            <a:pPr>
              <a:spcBef>
                <a:spcPts val="1200"/>
              </a:spcBef>
              <a:defRPr sz="2400"/>
            </a:pPr>
            <a:r>
              <a:t>bmi            ██████████████        (0.18)</a:t>
            </a:r>
          </a:p>
          <a:p>
            <a:pPr>
              <a:spcBef>
                <a:spcPts val="1200"/>
              </a:spcBef>
              <a:defRPr sz="2400"/>
            </a:pPr>
            <a:r>
              <a:t>age            ██████████            (0.13)</a:t>
            </a:r>
          </a:p>
          <a:p>
            <a:pPr>
              <a:spcBef>
                <a:spcPts val="1200"/>
              </a:spcBef>
              <a:defRPr sz="2400"/>
            </a:pPr>
            <a:r>
              <a:t>dpf            ████████              (0.10)</a:t>
            </a:r>
          </a:p>
          <a:p>
            <a:pPr>
              <a:spcBef>
                <a:spcPts val="1200"/>
              </a:spcBef>
              <a:defRPr sz="2400"/>
            </a:pPr>
            <a:r>
              <a:t>pregnancies    ██████                (0.08)</a:t>
            </a:r>
          </a:p>
          <a:p>
            <a:pPr>
              <a:spcBef>
                <a:spcPts val="1200"/>
              </a:spcBef>
              <a:defRPr sz="2400"/>
            </a:pPr>
            <a:r>
              <a:t>diastolic      ████                  (0.06)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💡 Glukose er klart viktigst for diabetes-prediksjon!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Partial Dependence Plot: Glucose →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PDP viser hvordan predikert sannsynlighet endres</a:t>
            </a:r>
          </a:p>
          <a:p>
            <a:pPr>
              <a:spcBef>
                <a:spcPts val="1200"/>
              </a:spcBef>
              <a:defRPr sz="2400"/>
            </a:pPr>
            <a:r>
              <a:t>når vi varierer glucose, alt annet holdt konstant: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     Glucose &lt; 100:  Lav risiko (~20%)</a:t>
            </a:r>
          </a:p>
          <a:p>
            <a:pPr>
              <a:spcBef>
                <a:spcPts val="1200"/>
              </a:spcBef>
              <a:defRPr sz="2400"/>
            </a:pPr>
            <a:r>
              <a:t>     Glucose 100-125: Moderat risiko (~40%)</a:t>
            </a:r>
          </a:p>
          <a:p>
            <a:pPr>
              <a:spcBef>
                <a:spcPts val="1200"/>
              </a:spcBef>
              <a:defRPr sz="2400"/>
            </a:pPr>
            <a:r>
              <a:t>     Glucose &gt; 140:  Høy risiko (~70%+)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💡 Samsvarer med kliniske grenseverdier!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[Sett inn PDP-figur fra notebook her]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Pålitelig AI i medisin: 6 pilarer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85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1️⃣ NØYAKTIGHET — Fungerer modellen godt nok?</a:t>
            </a:r>
          </a:p>
          <a:p>
            <a:pPr>
              <a:spcBef>
                <a:spcPts val="1200"/>
              </a:spcBef>
              <a:defRPr sz="2400"/>
            </a:pPr>
            <a:r>
              <a:t>2️⃣ FORKLARBARHET — Kan vi forstå beslutningene?</a:t>
            </a:r>
          </a:p>
          <a:p>
            <a:pPr>
              <a:spcBef>
                <a:spcPts val="1200"/>
              </a:spcBef>
              <a:defRPr sz="2400"/>
            </a:pPr>
            <a:r>
              <a:t>3️⃣ RETTFERDIGHET — Fungerer den likt for alle grupper?</a:t>
            </a:r>
          </a:p>
          <a:p>
            <a:pPr>
              <a:spcBef>
                <a:spcPts val="1200"/>
              </a:spcBef>
              <a:defRPr sz="2400"/>
            </a:pPr>
            <a:r>
              <a:t>4️⃣ ROBUSTHET — Tåler den støy og angrep?</a:t>
            </a:r>
          </a:p>
          <a:p>
            <a:pPr>
              <a:spcBef>
                <a:spcPts val="1200"/>
              </a:spcBef>
              <a:defRPr sz="2400"/>
            </a:pPr>
            <a:r>
              <a:t>5️⃣ PERSONVERN — Er pasientdata beskyttet?</a:t>
            </a:r>
          </a:p>
          <a:p>
            <a:pPr>
              <a:spcBef>
                <a:spcPts val="1200"/>
              </a:spcBef>
              <a:defRPr sz="2400"/>
            </a:pPr>
            <a:r>
              <a:t>6️⃣ ANSVARLIGHET — Hvem har ansvaret når AI feiler?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EU AI Act krever dette for høyrisiko-AI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Etiske utfordringer i medisinsk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dirty="0"/>
              <a:t>🌍 POPULASJONSBIAS — Pima-data → </a:t>
            </a:r>
            <a:r>
              <a:rPr dirty="0" err="1"/>
              <a:t>norske</a:t>
            </a:r>
            <a:r>
              <a:rPr dirty="0"/>
              <a:t> </a:t>
            </a:r>
            <a:r>
              <a:rPr dirty="0" err="1"/>
              <a:t>pasienter</a:t>
            </a:r>
            <a:r>
              <a:rPr dirty="0"/>
              <a:t>?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⏰ HISTORISK BIAS — 1988-data → 2026-pasienter?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👫 KJØNNSBIAS — Kun </a:t>
            </a:r>
            <a:r>
              <a:rPr dirty="0" err="1"/>
              <a:t>kvinner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datasettet</a:t>
            </a: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📜 INFORMERT SAMTYKKE — </a:t>
            </a:r>
            <a:r>
              <a:rPr dirty="0" err="1"/>
              <a:t>Bør</a:t>
            </a:r>
            <a:r>
              <a:rPr dirty="0"/>
              <a:t> </a:t>
            </a:r>
            <a:r>
              <a:rPr dirty="0" err="1"/>
              <a:t>pasienten</a:t>
            </a:r>
            <a:r>
              <a:rPr dirty="0"/>
              <a:t> </a:t>
            </a:r>
            <a:r>
              <a:rPr dirty="0" err="1"/>
              <a:t>vite</a:t>
            </a:r>
            <a:r>
              <a:rPr dirty="0"/>
              <a:t> om AI?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⚖️ ANSVAR — </a:t>
            </a:r>
            <a:r>
              <a:rPr dirty="0" err="1"/>
              <a:t>Hvem</a:t>
            </a:r>
            <a:r>
              <a:rPr dirty="0"/>
              <a:t> </a:t>
            </a:r>
            <a:r>
              <a:rPr dirty="0" err="1"/>
              <a:t>har</a:t>
            </a:r>
            <a:r>
              <a:rPr dirty="0"/>
              <a:t> </a:t>
            </a:r>
            <a:r>
              <a:rPr dirty="0" err="1"/>
              <a:t>skylden</a:t>
            </a:r>
            <a:r>
              <a:rPr dirty="0"/>
              <a:t> </a:t>
            </a:r>
            <a:r>
              <a:rPr dirty="0" err="1"/>
              <a:t>hvis</a:t>
            </a:r>
            <a:r>
              <a:rPr dirty="0"/>
              <a:t> AI tar </a:t>
            </a:r>
            <a:r>
              <a:rPr dirty="0" err="1"/>
              <a:t>feil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55765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rPr dirty="0" err="1"/>
              <a:t>Viktig</a:t>
            </a:r>
            <a:r>
              <a:rPr dirty="0"/>
              <a:t>: </a:t>
            </a:r>
            <a:r>
              <a:rPr dirty="0" err="1"/>
              <a:t>Alltid</a:t>
            </a:r>
            <a:r>
              <a:rPr dirty="0"/>
              <a:t> </a:t>
            </a:r>
            <a:r>
              <a:rPr dirty="0" err="1"/>
              <a:t>valider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</a:t>
            </a:r>
            <a:r>
              <a:rPr dirty="0" err="1"/>
              <a:t>lokal</a:t>
            </a:r>
            <a:r>
              <a:rPr dirty="0"/>
              <a:t> </a:t>
            </a:r>
            <a:r>
              <a:rPr dirty="0" err="1"/>
              <a:t>populasjon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Fra notebook til webapp med Gradio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589" y="1188720"/>
            <a:ext cx="861508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dirty="0" err="1"/>
              <a:t>Gradio</a:t>
            </a:r>
            <a:r>
              <a:rPr dirty="0"/>
              <a:t> </a:t>
            </a:r>
            <a:r>
              <a:rPr dirty="0" err="1"/>
              <a:t>gjør</a:t>
            </a:r>
            <a:r>
              <a:rPr dirty="0"/>
              <a:t> det </a:t>
            </a:r>
            <a:r>
              <a:rPr dirty="0" err="1"/>
              <a:t>enkelt</a:t>
            </a:r>
            <a:r>
              <a:rPr dirty="0"/>
              <a:t> </a:t>
            </a:r>
            <a:r>
              <a:rPr dirty="0" err="1"/>
              <a:t>å</a:t>
            </a:r>
            <a:r>
              <a:rPr dirty="0"/>
              <a:t> </a:t>
            </a:r>
            <a:r>
              <a:rPr dirty="0" err="1"/>
              <a:t>lage</a:t>
            </a:r>
            <a:r>
              <a:rPr dirty="0"/>
              <a:t> </a:t>
            </a:r>
            <a:r>
              <a:rPr dirty="0" err="1"/>
              <a:t>interaktive</a:t>
            </a:r>
            <a:r>
              <a:rPr dirty="0"/>
              <a:t> </a:t>
            </a:r>
            <a:r>
              <a:rPr dirty="0" err="1"/>
              <a:t>webapper</a:t>
            </a:r>
            <a:r>
              <a:rPr dirty="0"/>
              <a:t>:</a:t>
            </a:r>
          </a:p>
          <a:p>
            <a:pPr>
              <a:spcBef>
                <a:spcPts val="1200"/>
              </a:spcBef>
              <a:defRPr sz="2400"/>
            </a:pP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     </a:t>
            </a:r>
            <a:r>
              <a:rPr dirty="0" err="1"/>
              <a:t>gr.Interface</a:t>
            </a:r>
            <a:r>
              <a:rPr dirty="0"/>
              <a:t>(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    </a:t>
            </a:r>
            <a:r>
              <a:rPr dirty="0" err="1"/>
              <a:t>fn</a:t>
            </a:r>
            <a:r>
              <a:rPr dirty="0"/>
              <a:t>=</a:t>
            </a:r>
            <a:r>
              <a:rPr dirty="0" err="1"/>
              <a:t>predict_diabetes</a:t>
            </a:r>
            <a:r>
              <a:rPr dirty="0"/>
              <a:t>,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    inputs=[Slider('Alder'), Slider('BMI'), ...],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    outputs=Textbox('</a:t>
            </a:r>
            <a:r>
              <a:rPr dirty="0" err="1"/>
              <a:t>Prediksjon</a:t>
            </a:r>
            <a:r>
              <a:rPr dirty="0"/>
              <a:t>')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  ).launch()</a:t>
            </a:r>
          </a:p>
          <a:p>
            <a:pPr>
              <a:spcBef>
                <a:spcPts val="1200"/>
              </a:spcBef>
              <a:defRPr sz="2400"/>
            </a:pP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✅ Ingen frontend-</a:t>
            </a:r>
            <a:r>
              <a:rPr dirty="0" err="1"/>
              <a:t>kode</a:t>
            </a:r>
            <a:r>
              <a:rPr dirty="0"/>
              <a:t> </a:t>
            </a:r>
            <a:r>
              <a:rPr dirty="0" err="1"/>
              <a:t>nødvendig</a:t>
            </a:r>
            <a:r>
              <a:rPr dirty="0"/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[Sett inn skjermbilde av Gradio-appen her]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Oppsummering: Hva har vi lært?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239" y="1054249"/>
            <a:ext cx="8310280" cy="3858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2400"/>
            </a:pPr>
            <a:r>
              <a:rPr sz="2200" dirty="0"/>
              <a:t>✅ ML </a:t>
            </a:r>
            <a:r>
              <a:rPr sz="2200" dirty="0" err="1"/>
              <a:t>lærer</a:t>
            </a:r>
            <a:r>
              <a:rPr sz="2200" dirty="0"/>
              <a:t> </a:t>
            </a:r>
            <a:r>
              <a:rPr sz="2200" dirty="0" err="1"/>
              <a:t>mønstre</a:t>
            </a:r>
            <a:r>
              <a:rPr sz="2200" dirty="0"/>
              <a:t> </a:t>
            </a:r>
            <a:r>
              <a:rPr sz="2200" dirty="0" err="1"/>
              <a:t>fra</a:t>
            </a:r>
            <a:r>
              <a:rPr sz="2200" dirty="0"/>
              <a:t> data </a:t>
            </a:r>
            <a:r>
              <a:rPr sz="2200" dirty="0" err="1"/>
              <a:t>automatisk</a:t>
            </a:r>
            <a:endParaRPr sz="2200" dirty="0"/>
          </a:p>
          <a:p>
            <a:pPr>
              <a:lnSpc>
                <a:spcPct val="150000"/>
              </a:lnSpc>
              <a:spcBef>
                <a:spcPts val="1200"/>
              </a:spcBef>
              <a:defRPr sz="2400"/>
            </a:pPr>
            <a:r>
              <a:rPr sz="2200" dirty="0"/>
              <a:t>✅ Random Forest: Robust ensemble av </a:t>
            </a:r>
            <a:r>
              <a:rPr sz="2200" dirty="0" err="1"/>
              <a:t>beslutningstrær</a:t>
            </a:r>
            <a:endParaRPr sz="2200" dirty="0"/>
          </a:p>
          <a:p>
            <a:pPr>
              <a:lnSpc>
                <a:spcPct val="150000"/>
              </a:lnSpc>
              <a:spcBef>
                <a:spcPts val="1200"/>
              </a:spcBef>
              <a:defRPr sz="2400"/>
            </a:pPr>
            <a:r>
              <a:rPr sz="2200" dirty="0"/>
              <a:t>✅ Train/test split: </a:t>
            </a:r>
            <a:r>
              <a:rPr sz="2200" dirty="0" err="1"/>
              <a:t>Unngå</a:t>
            </a:r>
            <a:r>
              <a:rPr sz="2200" dirty="0"/>
              <a:t> overfitting, </a:t>
            </a:r>
            <a:r>
              <a:rPr sz="2200" dirty="0" err="1"/>
              <a:t>evaluer</a:t>
            </a:r>
            <a:r>
              <a:rPr sz="2200" dirty="0"/>
              <a:t> </a:t>
            </a:r>
            <a:r>
              <a:rPr sz="2200" dirty="0" err="1"/>
              <a:t>på</a:t>
            </a:r>
            <a:r>
              <a:rPr sz="2200" dirty="0"/>
              <a:t> </a:t>
            </a:r>
            <a:r>
              <a:rPr sz="2200" dirty="0" err="1"/>
              <a:t>usett</a:t>
            </a:r>
            <a:r>
              <a:rPr sz="2200" dirty="0"/>
              <a:t> data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2400"/>
            </a:pPr>
            <a:r>
              <a:rPr sz="2200" dirty="0"/>
              <a:t>✅ </a:t>
            </a:r>
            <a:r>
              <a:rPr sz="2200" dirty="0" err="1"/>
              <a:t>Evaluering</a:t>
            </a:r>
            <a:r>
              <a:rPr sz="2200" dirty="0"/>
              <a:t>: Accuracy, precision, recall, F1, </a:t>
            </a:r>
            <a:r>
              <a:rPr lang="nb-NO" sz="2200" dirty="0"/>
              <a:t>forvirrings</a:t>
            </a:r>
            <a:r>
              <a:rPr sz="2200" dirty="0" err="1"/>
              <a:t>matrise</a:t>
            </a:r>
            <a:endParaRPr sz="2200" dirty="0"/>
          </a:p>
          <a:p>
            <a:pPr>
              <a:lnSpc>
                <a:spcPct val="150000"/>
              </a:lnSpc>
              <a:spcBef>
                <a:spcPts val="1200"/>
              </a:spcBef>
              <a:defRPr sz="2400"/>
            </a:pPr>
            <a:r>
              <a:rPr sz="2200" dirty="0"/>
              <a:t>✅ XAI: Feature importance, PDP </a:t>
            </a:r>
            <a:r>
              <a:rPr sz="2200" dirty="0" err="1"/>
              <a:t>forklarer</a:t>
            </a:r>
            <a:r>
              <a:rPr sz="2200" dirty="0"/>
              <a:t> </a:t>
            </a:r>
            <a:r>
              <a:rPr sz="2200" dirty="0" err="1"/>
              <a:t>modellen</a:t>
            </a:r>
            <a:endParaRPr sz="2200" dirty="0"/>
          </a:p>
          <a:p>
            <a:pPr>
              <a:lnSpc>
                <a:spcPct val="150000"/>
              </a:lnSpc>
              <a:spcBef>
                <a:spcPts val="1200"/>
              </a:spcBef>
              <a:defRPr sz="2400"/>
            </a:pPr>
            <a:r>
              <a:rPr sz="2200" dirty="0"/>
              <a:t>✅ Trustworthy AI: 6 </a:t>
            </a:r>
            <a:r>
              <a:rPr sz="2200" dirty="0" err="1"/>
              <a:t>pilarer</a:t>
            </a:r>
            <a:r>
              <a:rPr sz="2200" dirty="0"/>
              <a:t> for </a:t>
            </a:r>
            <a:r>
              <a:rPr sz="2200" dirty="0" err="1"/>
              <a:t>pålitelig</a:t>
            </a:r>
            <a:r>
              <a:rPr sz="2200" dirty="0"/>
              <a:t> </a:t>
            </a:r>
            <a:r>
              <a:rPr sz="2200" dirty="0" err="1"/>
              <a:t>medisinsk</a:t>
            </a:r>
            <a:r>
              <a:rPr sz="2200" dirty="0"/>
              <a:t> 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52981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Videre læring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📘 Ressurser:</a:t>
            </a:r>
          </a:p>
          <a:p>
            <a:pPr>
              <a:spcBef>
                <a:spcPts val="1200"/>
              </a:spcBef>
              <a:defRPr sz="2400"/>
            </a:pPr>
            <a:r>
              <a:t>     • Molnar: Interpretable ML (gratis online)</a:t>
            </a:r>
          </a:p>
          <a:p>
            <a:pPr>
              <a:spcBef>
                <a:spcPts val="1200"/>
              </a:spcBef>
              <a:defRPr sz="2400"/>
            </a:pPr>
            <a:r>
              <a:t>     • James et al.: ISLP (gratis online)</a:t>
            </a:r>
          </a:p>
          <a:p>
            <a:pPr>
              <a:spcBef>
                <a:spcPts val="1200"/>
              </a:spcBef>
              <a:defRPr sz="2400"/>
            </a:pPr>
            <a:r>
              <a:t>     • scikit-learn.org, gradio.app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🔜 Neste labs:</a:t>
            </a:r>
          </a:p>
          <a:p>
            <a:pPr>
              <a:spcBef>
                <a:spcPts val="1200"/>
              </a:spcBef>
              <a:defRPr sz="2400"/>
            </a:pPr>
            <a:r>
              <a:t>     • Lab 1: Nettverksvitenskap og PSN</a:t>
            </a:r>
          </a:p>
          <a:p>
            <a:pPr>
              <a:spcBef>
                <a:spcPts val="1200"/>
              </a:spcBef>
              <a:defRPr sz="2400"/>
            </a:pPr>
            <a:r>
              <a:t>     • Lab 2: Dyp læring</a:t>
            </a:r>
          </a:p>
          <a:p>
            <a:pPr>
              <a:spcBef>
                <a:spcPts val="1200"/>
              </a:spcBef>
              <a:defRPr sz="2400"/>
            </a:pPr>
            <a:r>
              <a:t>     • Lab 3: Generativ AI og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Lykke til med videre læring! 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1414</Words>
  <Application>Microsoft Macintosh PowerPoint</Application>
  <PresentationFormat>On-screen Show (16:9)</PresentationFormat>
  <Paragraphs>215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Roboto Slab</vt:lpstr>
      <vt:lpstr>Roboto</vt:lpstr>
      <vt:lpstr>Simple Light</vt:lpstr>
      <vt:lpstr>Marina</vt:lpstr>
      <vt:lpstr>ELMED219 / BMED365 - 2026                                                             Fredag 9. januar 2026    Lab 0: Introduksjon til maskinlæring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Arvid Lundervold</cp:lastModifiedBy>
  <cp:revision>2</cp:revision>
  <dcterms:modified xsi:type="dcterms:W3CDTF">2025-11-27T18:29:16Z</dcterms:modified>
</cp:coreProperties>
</file>