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Slab-bold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lab-regular.fntdata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412c6e6d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412c6e6d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412c6e6d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412c6e6d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3" name="Google Shape;93;p22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2" name="Google Shape;112;p25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13" name="Google Shape;113;p2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5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Char char="●"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Char char="○"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Char char="●"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Char char="○"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Char char="●"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Char char="○"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Char char="■"/>
              <a:defRPr sz="4000"/>
            </a:lvl9pPr>
          </a:lstStyle>
          <a:p/>
        </p:txBody>
      </p:sp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www.nature.com/articles/s41591-018-0300-7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www.nature.com/articles/s41591-018-0300-7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4400"/>
            <a:ext cx="8839201" cy="318666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/>
        </p:nvSpPr>
        <p:spPr>
          <a:xfrm>
            <a:off x="695325" y="4714875"/>
            <a:ext cx="8097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Modified from:  E. J. Topol, ‘High-performance medicine: the convergence of human and artificial intelligence’, </a:t>
            </a:r>
            <a:r>
              <a:rPr i="1" lang="en" sz="700">
                <a:solidFill>
                  <a:schemeClr val="dk1"/>
                </a:solidFill>
              </a:rPr>
              <a:t>Nature Medicine</a:t>
            </a:r>
            <a:r>
              <a:rPr lang="en" sz="700">
                <a:solidFill>
                  <a:schemeClr val="dk1"/>
                </a:solidFill>
              </a:rPr>
              <a:t> 2019;</a:t>
            </a:r>
            <a:r>
              <a:rPr lang="en" sz="7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25:44–56.    </a:t>
            </a:r>
            <a:r>
              <a:rPr lang="en" sz="6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https://www.nature.com/articles/s41591-018-0300-7</a:t>
            </a:r>
            <a:endParaRPr sz="600"/>
          </a:p>
        </p:txBody>
      </p:sp>
      <p:sp>
        <p:nvSpPr>
          <p:cNvPr id="126" name="Google Shape;126;p27"/>
          <p:cNvSpPr txBox="1"/>
          <p:nvPr/>
        </p:nvSpPr>
        <p:spPr>
          <a:xfrm>
            <a:off x="72731" y="4365625"/>
            <a:ext cx="9030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</a:rPr>
              <a:t>A medical deep learning model with multimodal input data and algorithms to provide individualized health guidance, diagnosis, etc.</a:t>
            </a:r>
            <a:endParaRPr sz="1200">
              <a:solidFill>
                <a:srgbClr val="1F1F1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                                                                 </a:t>
            </a:r>
            <a:endParaRPr sz="1200"/>
          </a:p>
        </p:txBody>
      </p:sp>
      <p:pic>
        <p:nvPicPr>
          <p:cNvPr id="127" name="Google Shape;127;p27"/>
          <p:cNvPicPr preferRelativeResize="0"/>
          <p:nvPr/>
        </p:nvPicPr>
        <p:blipFill rotWithShape="1">
          <a:blip r:embed="rId5">
            <a:alphaModFix/>
          </a:blip>
          <a:srcRect b="0" l="39268" r="0" t="0"/>
          <a:stretch/>
        </p:blipFill>
        <p:spPr>
          <a:xfrm>
            <a:off x="3914725" y="263525"/>
            <a:ext cx="1735075" cy="9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/>
          <p:cNvPicPr preferRelativeResize="0"/>
          <p:nvPr/>
        </p:nvPicPr>
        <p:blipFill rotWithShape="1">
          <a:blip r:embed="rId5">
            <a:alphaModFix/>
          </a:blip>
          <a:srcRect b="22861" l="57932" r="29480" t="25357"/>
          <a:stretch/>
        </p:blipFill>
        <p:spPr>
          <a:xfrm>
            <a:off x="1880650" y="428525"/>
            <a:ext cx="383700" cy="5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 rotWithShape="1">
          <a:blip r:embed="rId5">
            <a:alphaModFix/>
          </a:blip>
          <a:srcRect b="12516" l="0" r="79802" t="22862"/>
          <a:stretch/>
        </p:blipFill>
        <p:spPr>
          <a:xfrm>
            <a:off x="7889725" y="371550"/>
            <a:ext cx="615750" cy="6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5675" y="1135324"/>
            <a:ext cx="1104725" cy="3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 txBox="1"/>
          <p:nvPr/>
        </p:nvSpPr>
        <p:spPr>
          <a:xfrm>
            <a:off x="3965975" y="2084300"/>
            <a:ext cx="1759800" cy="3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model architecture</a:t>
            </a:r>
            <a:endParaRPr/>
          </a:p>
        </p:txBody>
      </p:sp>
      <p:pic>
        <p:nvPicPr>
          <p:cNvPr id="132" name="Google Shape;13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6600" y="2078900"/>
            <a:ext cx="213286" cy="3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5319" y="3154725"/>
            <a:ext cx="180506" cy="2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/>
        </p:nvSpPr>
        <p:spPr>
          <a:xfrm>
            <a:off x="5185175" y="3760700"/>
            <a:ext cx="1874700" cy="3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parameters</a:t>
            </a:r>
            <a:endParaRPr/>
          </a:p>
        </p:txBody>
      </p:sp>
      <p:cxnSp>
        <p:nvCxnSpPr>
          <p:cNvPr id="135" name="Google Shape;135;p27"/>
          <p:cNvCxnSpPr/>
          <p:nvPr/>
        </p:nvCxnSpPr>
        <p:spPr>
          <a:xfrm>
            <a:off x="4846425" y="3449350"/>
            <a:ext cx="420600" cy="42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7"/>
          <p:cNvSpPr txBox="1"/>
          <p:nvPr/>
        </p:nvSpPr>
        <p:spPr>
          <a:xfrm>
            <a:off x="7607075" y="3380600"/>
            <a:ext cx="1234800" cy="9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Health guidance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Diagnosis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Phenotype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Survival (OS)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...</a:t>
            </a:r>
            <a:endParaRPr sz="1000"/>
          </a:p>
        </p:txBody>
      </p:sp>
      <p:sp>
        <p:nvSpPr>
          <p:cNvPr id="137" name="Google Shape;137;p27"/>
          <p:cNvSpPr txBox="1"/>
          <p:nvPr/>
        </p:nvSpPr>
        <p:spPr>
          <a:xfrm>
            <a:off x="1269350" y="213475"/>
            <a:ext cx="8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</a:t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2552600" y="213475"/>
            <a:ext cx="15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Trained modell:</a:t>
            </a:r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7017225" y="213475"/>
            <a:ext cx="12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Prediction:</a:t>
            </a:r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6717325" y="2426813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</a:t>
            </a:r>
            <a:endParaRPr/>
          </a:p>
        </p:txBody>
      </p:sp>
      <p:sp>
        <p:nvSpPr>
          <p:cNvPr id="141" name="Google Shape;141;p27"/>
          <p:cNvSpPr txBox="1"/>
          <p:nvPr/>
        </p:nvSpPr>
        <p:spPr>
          <a:xfrm>
            <a:off x="1809725" y="3877750"/>
            <a:ext cx="19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Imaging-derived</a:t>
            </a:r>
            <a:r>
              <a:rPr b="1" lang="en" sz="1000"/>
              <a:t> information</a:t>
            </a:r>
            <a:endParaRPr b="1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4400"/>
            <a:ext cx="8839201" cy="318666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/>
        </p:nvSpPr>
        <p:spPr>
          <a:xfrm>
            <a:off x="695325" y="4714875"/>
            <a:ext cx="8097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Modified from:  E. J. Topol, ‘High-performance medicine: the convergence of human and artificial intelligence’, </a:t>
            </a:r>
            <a:r>
              <a:rPr i="1" lang="en" sz="700">
                <a:solidFill>
                  <a:schemeClr val="dk1"/>
                </a:solidFill>
              </a:rPr>
              <a:t>Nature Medicine</a:t>
            </a:r>
            <a:r>
              <a:rPr lang="en" sz="700">
                <a:solidFill>
                  <a:schemeClr val="dk1"/>
                </a:solidFill>
              </a:rPr>
              <a:t> 2019;</a:t>
            </a:r>
            <a:r>
              <a:rPr lang="en" sz="7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25:44–56.    </a:t>
            </a:r>
            <a:r>
              <a:rPr lang="en" sz="6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https://www.nature.com/articles/s41591-018-0300-7</a:t>
            </a:r>
            <a:endParaRPr sz="600"/>
          </a:p>
        </p:txBody>
      </p:sp>
      <p:sp>
        <p:nvSpPr>
          <p:cNvPr id="148" name="Google Shape;148;p28"/>
          <p:cNvSpPr txBox="1"/>
          <p:nvPr/>
        </p:nvSpPr>
        <p:spPr>
          <a:xfrm>
            <a:off x="24150" y="4365625"/>
            <a:ext cx="9144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 tenkt medisinsk dyplærings-modell med multimodale inndata og algoritmer for å gi individualisert helseveiledning, diagnose, mm.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                                                                 </a:t>
            </a:r>
            <a:endParaRPr sz="1200"/>
          </a:p>
        </p:txBody>
      </p:sp>
      <p:pic>
        <p:nvPicPr>
          <p:cNvPr id="149" name="Google Shape;149;p28"/>
          <p:cNvPicPr preferRelativeResize="0"/>
          <p:nvPr/>
        </p:nvPicPr>
        <p:blipFill rotWithShape="1">
          <a:blip r:embed="rId5">
            <a:alphaModFix/>
          </a:blip>
          <a:srcRect b="0" l="39268" r="0" t="0"/>
          <a:stretch/>
        </p:blipFill>
        <p:spPr>
          <a:xfrm>
            <a:off x="3914725" y="263525"/>
            <a:ext cx="1735075" cy="9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 rotWithShape="1">
          <a:blip r:embed="rId5">
            <a:alphaModFix/>
          </a:blip>
          <a:srcRect b="22861" l="57932" r="29480" t="25357"/>
          <a:stretch/>
        </p:blipFill>
        <p:spPr>
          <a:xfrm>
            <a:off x="1880650" y="428525"/>
            <a:ext cx="383700" cy="5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 rotWithShape="1">
          <a:blip r:embed="rId5">
            <a:alphaModFix/>
          </a:blip>
          <a:srcRect b="12516" l="0" r="79802" t="22862"/>
          <a:stretch/>
        </p:blipFill>
        <p:spPr>
          <a:xfrm>
            <a:off x="7889725" y="371550"/>
            <a:ext cx="615750" cy="6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5675" y="1135324"/>
            <a:ext cx="1104725" cy="3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3965975" y="2084300"/>
            <a:ext cx="1759800" cy="3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modell-arkitektur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6600" y="2078900"/>
            <a:ext cx="213286" cy="3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5319" y="3154725"/>
            <a:ext cx="180506" cy="2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5185175" y="3760700"/>
            <a:ext cx="1874700" cy="3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modell-parametre</a:t>
            </a:r>
            <a:endParaRPr/>
          </a:p>
        </p:txBody>
      </p:sp>
      <p:cxnSp>
        <p:nvCxnSpPr>
          <p:cNvPr id="157" name="Google Shape;157;p28"/>
          <p:cNvCxnSpPr/>
          <p:nvPr/>
        </p:nvCxnSpPr>
        <p:spPr>
          <a:xfrm>
            <a:off x="4846425" y="3449350"/>
            <a:ext cx="420600" cy="42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8"/>
          <p:cNvSpPr txBox="1"/>
          <p:nvPr/>
        </p:nvSpPr>
        <p:spPr>
          <a:xfrm>
            <a:off x="7607075" y="3380600"/>
            <a:ext cx="1234800" cy="9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Helseveiledning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Diagnose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Fenotype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Overlevelse (OS)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...</a:t>
            </a:r>
            <a:endParaRPr sz="1000"/>
          </a:p>
        </p:txBody>
      </p:sp>
      <p:sp>
        <p:nvSpPr>
          <p:cNvPr id="159" name="Google Shape;159;p28"/>
          <p:cNvSpPr txBox="1"/>
          <p:nvPr/>
        </p:nvSpPr>
        <p:spPr>
          <a:xfrm>
            <a:off x="1269350" y="213475"/>
            <a:ext cx="8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</a:t>
            </a: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2826225" y="213475"/>
            <a:ext cx="12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Trent modell:</a:t>
            </a:r>
            <a:endParaRPr/>
          </a:p>
        </p:txBody>
      </p:sp>
      <p:sp>
        <p:nvSpPr>
          <p:cNvPr id="161" name="Google Shape;161;p28"/>
          <p:cNvSpPr txBox="1"/>
          <p:nvPr/>
        </p:nvSpPr>
        <p:spPr>
          <a:xfrm>
            <a:off x="7017225" y="213475"/>
            <a:ext cx="12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Prediksjon:</a:t>
            </a:r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6717325" y="2426813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Inferens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1809725" y="3877750"/>
            <a:ext cx="19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Bilde-avledet informasjon</a:t>
            </a:r>
            <a:endParaRPr b="1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